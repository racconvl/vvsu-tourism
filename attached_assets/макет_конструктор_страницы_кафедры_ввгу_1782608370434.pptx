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ВВГУ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68680" cy="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28600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2A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Макет-конструктор страницы кафедры дизайна и технологий ВВГУ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9344" y="987552"/>
            <a:ext cx="4754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Многостраничная визуальная инструкция: что поставить на страницу и что написать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18488" y="1298448"/>
            <a:ext cx="2194560" cy="310896"/>
          </a:xfrm>
          <a:prstGeom prst="roundRect">
            <a:avLst>
              <a:gd name="adj" fmla="val 17647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36702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ИТИКИ / Кафедра дизайна и технологий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02336" y="1828800"/>
            <a:ext cx="6053328" cy="914400"/>
          </a:xfrm>
          <a:prstGeom prst="roundRect">
            <a:avLst>
              <a:gd name="adj" fmla="val 8000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57B8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992" y="1993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</a:rPr>
              <a:t>Цель страницы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9933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Показать кафедру как центр дизайн-образования региона: направления подготовки, проекты, лаборатории, преподавателей, практику, творческие испытания и путь к поступлению.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2450592"/>
            <a:ext cx="2560320" cy="219456"/>
          </a:xfrm>
          <a:prstGeom prst="roundRect">
            <a:avLst>
              <a:gd name="adj" fmla="val 2083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2500884"/>
            <a:ext cx="2487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3B78"/>
                </a:solidFill>
              </a:rPr>
              <a:t>страница должна продавать ценность обучения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621792" y="3108960"/>
            <a:ext cx="5623560" cy="7955280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5240">
            <a:solidFill>
              <a:srgbClr val="C9DB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108960"/>
            <a:ext cx="5623560" cy="384048"/>
          </a:xfrm>
          <a:prstGeom prst="rect">
            <a:avLst/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278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Структура первой страницы кафедры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960120" y="3657600"/>
            <a:ext cx="4937760" cy="402336"/>
          </a:xfrm>
          <a:prstGeom prst="roundRect">
            <a:avLst>
              <a:gd name="adj" fmla="val 13636"/>
            </a:avLst>
          </a:prstGeom>
          <a:solidFill>
            <a:srgbClr val="F5F9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3721608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75818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1371600" y="373075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Первый экран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2926080" y="3730752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заголовок, CTA, быстрые факты</a:t>
            </a:r>
            <a:endParaRPr lang="en-US" sz="610" dirty="0"/>
          </a:p>
        </p:txBody>
      </p:sp>
      <p:sp>
        <p:nvSpPr>
          <p:cNvPr id="23" name="Shape 21"/>
          <p:cNvSpPr/>
          <p:nvPr/>
        </p:nvSpPr>
        <p:spPr>
          <a:xfrm>
            <a:off x="960120" y="4133088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4197096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23367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2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1371600" y="420624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О кафедре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926080" y="4206240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роль кафедры, регион, практика</a:t>
            </a:r>
            <a:endParaRPr lang="en-US" sz="610" dirty="0"/>
          </a:p>
        </p:txBody>
      </p:sp>
      <p:sp>
        <p:nvSpPr>
          <p:cNvPr id="28" name="Shape 26"/>
          <p:cNvSpPr/>
          <p:nvPr/>
        </p:nvSpPr>
        <p:spPr>
          <a:xfrm>
            <a:off x="960120" y="4553712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5F9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461772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4654296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3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1371600" y="46268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История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2926080" y="462686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краткий таймлайн</a:t>
            </a:r>
            <a:endParaRPr lang="en-US" sz="610" dirty="0"/>
          </a:p>
        </p:txBody>
      </p:sp>
      <p:sp>
        <p:nvSpPr>
          <p:cNvPr id="33" name="Shape 31"/>
          <p:cNvSpPr/>
          <p:nvPr/>
        </p:nvSpPr>
        <p:spPr>
          <a:xfrm>
            <a:off x="960120" y="4974336"/>
            <a:ext cx="49377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8992" y="5038344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507492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4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1371600" y="504748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Направления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2926080" y="504748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карточки программ</a:t>
            </a:r>
            <a:endParaRPr lang="en-US" sz="610" dirty="0"/>
          </a:p>
        </p:txBody>
      </p:sp>
      <p:sp>
        <p:nvSpPr>
          <p:cNvPr id="38" name="Shape 36"/>
          <p:cNvSpPr/>
          <p:nvPr/>
        </p:nvSpPr>
        <p:spPr>
          <a:xfrm>
            <a:off x="960120" y="5449824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5F9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8992" y="5513832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8992" y="555040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5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1371600" y="552297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Почему выбирают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2926080" y="552297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ценность и отличие</a:t>
            </a:r>
            <a:endParaRPr lang="en-US" sz="610" dirty="0"/>
          </a:p>
        </p:txBody>
      </p:sp>
      <p:sp>
        <p:nvSpPr>
          <p:cNvPr id="43" name="Shape 41"/>
          <p:cNvSpPr/>
          <p:nvPr/>
        </p:nvSpPr>
        <p:spPr>
          <a:xfrm>
            <a:off x="960120" y="5870448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8992" y="5934456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8992" y="597103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6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1371600" y="594360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Лаборатории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2926080" y="5943600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оборудование и мастерские</a:t>
            </a:r>
            <a:endParaRPr lang="en-US" sz="610" dirty="0"/>
          </a:p>
        </p:txBody>
      </p:sp>
      <p:sp>
        <p:nvSpPr>
          <p:cNvPr id="48" name="Shape 46"/>
          <p:cNvSpPr/>
          <p:nvPr/>
        </p:nvSpPr>
        <p:spPr>
          <a:xfrm>
            <a:off x="960120" y="6291072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5F9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8992" y="635508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8992" y="6391656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7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1371600" y="636422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Проекты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2926080" y="636422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галерея и портфолио</a:t>
            </a:r>
            <a:endParaRPr lang="en-US" sz="610" dirty="0"/>
          </a:p>
        </p:txBody>
      </p:sp>
      <p:sp>
        <p:nvSpPr>
          <p:cNvPr id="53" name="Shape 51"/>
          <p:cNvSpPr/>
          <p:nvPr/>
        </p:nvSpPr>
        <p:spPr>
          <a:xfrm>
            <a:off x="960120" y="6711696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78992" y="6775704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8992" y="681228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8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1371600" y="678484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Практика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2926080" y="678484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партнёры и работодатели</a:t>
            </a:r>
            <a:endParaRPr lang="en-US" sz="610" dirty="0"/>
          </a:p>
        </p:txBody>
      </p:sp>
      <p:sp>
        <p:nvSpPr>
          <p:cNvPr id="58" name="Shape 56"/>
          <p:cNvSpPr/>
          <p:nvPr/>
        </p:nvSpPr>
        <p:spPr>
          <a:xfrm>
            <a:off x="960120" y="7132320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5F9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78992" y="7196328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78992" y="723290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9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1371600" y="720547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Наука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2926080" y="7205472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творческие исследования</a:t>
            </a:r>
            <a:endParaRPr lang="en-US" sz="610" dirty="0"/>
          </a:p>
        </p:txBody>
      </p:sp>
      <p:sp>
        <p:nvSpPr>
          <p:cNvPr id="63" name="Shape 61"/>
          <p:cNvSpPr/>
          <p:nvPr/>
        </p:nvSpPr>
        <p:spPr>
          <a:xfrm>
            <a:off x="960120" y="7552944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8992" y="7616952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8992" y="765352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10</a:t>
            </a:r>
            <a:endParaRPr lang="en-US" sz="550" dirty="0"/>
          </a:p>
        </p:txBody>
      </p:sp>
      <p:sp>
        <p:nvSpPr>
          <p:cNvPr id="66" name="Text 64"/>
          <p:cNvSpPr/>
          <p:nvPr/>
        </p:nvSpPr>
        <p:spPr>
          <a:xfrm>
            <a:off x="1371600" y="762609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Достижения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2926080" y="762609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конкурсы, гранты, победы</a:t>
            </a:r>
            <a:endParaRPr lang="en-US" sz="610" dirty="0"/>
          </a:p>
        </p:txBody>
      </p:sp>
      <p:sp>
        <p:nvSpPr>
          <p:cNvPr id="68" name="Shape 66"/>
          <p:cNvSpPr/>
          <p:nvPr/>
        </p:nvSpPr>
        <p:spPr>
          <a:xfrm>
            <a:off x="960120" y="7973568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5F9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78992" y="8037576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78992" y="80741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11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1371600" y="804672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Состав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2926080" y="8046720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преподаватели и кураторы</a:t>
            </a:r>
            <a:endParaRPr lang="en-US" sz="610" dirty="0"/>
          </a:p>
        </p:txBody>
      </p:sp>
      <p:sp>
        <p:nvSpPr>
          <p:cNvPr id="73" name="Shape 71"/>
          <p:cNvSpPr/>
          <p:nvPr/>
        </p:nvSpPr>
        <p:spPr>
          <a:xfrm>
            <a:off x="960120" y="8394192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78992" y="845820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78992" y="8494776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12</a:t>
            </a:r>
            <a:endParaRPr lang="en-US" sz="550" dirty="0"/>
          </a:p>
        </p:txBody>
      </p:sp>
      <p:sp>
        <p:nvSpPr>
          <p:cNvPr id="76" name="Text 74"/>
          <p:cNvSpPr/>
          <p:nvPr/>
        </p:nvSpPr>
        <p:spPr>
          <a:xfrm>
            <a:off x="1371600" y="846734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Абитуриенту</a:t>
            </a:r>
            <a:endParaRPr lang="en-US" sz="720" dirty="0"/>
          </a:p>
        </p:txBody>
      </p:sp>
      <p:sp>
        <p:nvSpPr>
          <p:cNvPr id="77" name="Text 75"/>
          <p:cNvSpPr/>
          <p:nvPr/>
        </p:nvSpPr>
        <p:spPr>
          <a:xfrm>
            <a:off x="2926080" y="846734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поступление и документы</a:t>
            </a:r>
            <a:endParaRPr lang="en-US" sz="610" dirty="0"/>
          </a:p>
        </p:txBody>
      </p:sp>
      <p:sp>
        <p:nvSpPr>
          <p:cNvPr id="78" name="Shape 76"/>
          <p:cNvSpPr/>
          <p:nvPr/>
        </p:nvSpPr>
        <p:spPr>
          <a:xfrm>
            <a:off x="960120" y="8814816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5F9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78992" y="8878824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78992" y="891540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13</a:t>
            </a:r>
            <a:endParaRPr lang="en-US" sz="550" dirty="0"/>
          </a:p>
        </p:txBody>
      </p:sp>
      <p:sp>
        <p:nvSpPr>
          <p:cNvPr id="81" name="Text 79"/>
          <p:cNvSpPr/>
          <p:nvPr/>
        </p:nvSpPr>
        <p:spPr>
          <a:xfrm>
            <a:off x="1371600" y="888796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Испытания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2926080" y="888796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композиция и подготовка</a:t>
            </a:r>
            <a:endParaRPr lang="en-US" sz="610" dirty="0"/>
          </a:p>
        </p:txBody>
      </p:sp>
      <p:sp>
        <p:nvSpPr>
          <p:cNvPr id="83" name="Shape 81"/>
          <p:cNvSpPr/>
          <p:nvPr/>
        </p:nvSpPr>
        <p:spPr>
          <a:xfrm>
            <a:off x="960120" y="9235440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78992" y="9299448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78992" y="933602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14</a:t>
            </a:r>
            <a:endParaRPr lang="en-US" sz="550" dirty="0"/>
          </a:p>
        </p:txBody>
      </p:sp>
      <p:sp>
        <p:nvSpPr>
          <p:cNvPr id="86" name="Text 84"/>
          <p:cNvSpPr/>
          <p:nvPr/>
        </p:nvSpPr>
        <p:spPr>
          <a:xfrm>
            <a:off x="1371600" y="930859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Родителям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2926080" y="9308592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инвестиция в профессию</a:t>
            </a:r>
            <a:endParaRPr lang="en-US" sz="610" dirty="0"/>
          </a:p>
        </p:txBody>
      </p:sp>
      <p:sp>
        <p:nvSpPr>
          <p:cNvPr id="88" name="Shape 86"/>
          <p:cNvSpPr/>
          <p:nvPr/>
        </p:nvSpPr>
        <p:spPr>
          <a:xfrm>
            <a:off x="960120" y="9656064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5F9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78992" y="9720072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78992" y="975664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15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371600" y="972921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Студентам</a:t>
            </a:r>
            <a:endParaRPr lang="en-US" sz="720" dirty="0"/>
          </a:p>
        </p:txBody>
      </p:sp>
      <p:sp>
        <p:nvSpPr>
          <p:cNvPr id="92" name="Text 90"/>
          <p:cNvSpPr/>
          <p:nvPr/>
        </p:nvSpPr>
        <p:spPr>
          <a:xfrm>
            <a:off x="2926080" y="972921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практика, конкурсы, проекты</a:t>
            </a:r>
            <a:endParaRPr lang="en-US" sz="610" dirty="0"/>
          </a:p>
        </p:txBody>
      </p:sp>
      <p:sp>
        <p:nvSpPr>
          <p:cNvPr id="93" name="Shape 91"/>
          <p:cNvSpPr/>
          <p:nvPr/>
        </p:nvSpPr>
        <p:spPr>
          <a:xfrm>
            <a:off x="960120" y="10076688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78992" y="10140696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78992" y="1017727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16</a:t>
            </a:r>
            <a:endParaRPr lang="en-US" sz="550" dirty="0"/>
          </a:p>
        </p:txBody>
      </p:sp>
      <p:sp>
        <p:nvSpPr>
          <p:cNvPr id="96" name="Text 94"/>
          <p:cNvSpPr/>
          <p:nvPr/>
        </p:nvSpPr>
        <p:spPr>
          <a:xfrm>
            <a:off x="1371600" y="1014984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Контакты</a:t>
            </a:r>
            <a:endParaRPr lang="en-US" sz="720" dirty="0"/>
          </a:p>
        </p:txBody>
      </p:sp>
      <p:sp>
        <p:nvSpPr>
          <p:cNvPr id="97" name="Text 95"/>
          <p:cNvSpPr/>
          <p:nvPr/>
        </p:nvSpPr>
        <p:spPr>
          <a:xfrm>
            <a:off x="2926080" y="10149840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координатор и форма заявки</a:t>
            </a:r>
            <a:endParaRPr lang="en-US" sz="610" dirty="0"/>
          </a:p>
        </p:txBody>
      </p:sp>
      <p:sp>
        <p:nvSpPr>
          <p:cNvPr id="98" name="Shape 96"/>
          <p:cNvSpPr/>
          <p:nvPr/>
        </p:nvSpPr>
        <p:spPr>
          <a:xfrm>
            <a:off x="960120" y="10497312"/>
            <a:ext cx="4937760" cy="402336"/>
          </a:xfrm>
          <a:prstGeom prst="roundRect">
            <a:avLst>
              <a:gd name="adj" fmla="val 13636"/>
            </a:avLst>
          </a:prstGeom>
          <a:solidFill>
            <a:srgbClr val="F5F9FF"/>
          </a:solidFill>
          <a:ln w="7620">
            <a:solidFill>
              <a:srgbClr val="C9DBF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78992" y="1056132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78992" y="10597896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17</a:t>
            </a:r>
            <a:endParaRPr lang="en-US" sz="550" dirty="0"/>
          </a:p>
        </p:txBody>
      </p:sp>
      <p:sp>
        <p:nvSpPr>
          <p:cNvPr id="101" name="Text 99"/>
          <p:cNvSpPr/>
          <p:nvPr/>
        </p:nvSpPr>
        <p:spPr>
          <a:xfrm>
            <a:off x="1371600" y="105704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03B78"/>
                </a:solidFill>
              </a:rPr>
              <a:t>Финальный CTA</a:t>
            </a:r>
            <a:endParaRPr lang="en-US" sz="720" dirty="0"/>
          </a:p>
        </p:txBody>
      </p:sp>
      <p:sp>
        <p:nvSpPr>
          <p:cNvPr id="102" name="Text 100"/>
          <p:cNvSpPr/>
          <p:nvPr/>
        </p:nvSpPr>
        <p:spPr>
          <a:xfrm>
            <a:off x="2926080" y="1057046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67085"/>
                </a:solidFill>
              </a:rPr>
              <a:t>подать документы</a:t>
            </a:r>
            <a:endParaRPr lang="en-US" sz="610" dirty="0"/>
          </a:p>
        </p:txBody>
      </p:sp>
      <p:sp>
        <p:nvSpPr>
          <p:cNvPr id="103" name="Text 101"/>
          <p:cNvSpPr/>
          <p:nvPr/>
        </p:nvSpPr>
        <p:spPr>
          <a:xfrm>
            <a:off x="786384" y="11137392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B78"/>
                </a:solidFill>
              </a:rPr>
              <a:t>Далее в презентации: каждый блок раскрыт отдельной схемой.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347472" y="11631168"/>
            <a:ext cx="6163056" cy="32918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02920" y="11722608"/>
            <a:ext cx="5852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3B78"/>
                </a:solidFill>
              </a:rPr>
              <a:t>Логика страницы: о кафедре → направления → преимущества → проекты → практика → поступление → контакты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ВВГУ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68680" cy="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28600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A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Вертикальная полоса страницы: блоки 1–8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9344" y="987552"/>
            <a:ext cx="4754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Как пользователь видит страницу при прокрутке сверху вниз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18488" y="1225296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29387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верх страницы / смысл + выбор направления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0" cy="9509760"/>
          </a:xfrm>
          <a:prstGeom prst="line">
            <a:avLst/>
          </a:prstGeom>
          <a:noFill/>
          <a:ln w="25400">
            <a:solidFill>
              <a:srgbClr val="C9D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82880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1965960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2016252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27048" y="19659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Первый экран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527048" y="22219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B4D"/>
                </a:solidFill>
              </a:rPr>
              <a:t>Заголовок кафедры, краткое описание, быстрые факты, кнопки: «Выбрать направление», «Проекты студентов», «Поступить», «Консультация».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94944" y="2157984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136392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6424" y="3273552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332384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27048" y="327355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 кафедре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1527048" y="35295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B4D"/>
                </a:solidFill>
              </a:rPr>
              <a:t>Кратко: дизайн, цифровая среда, мода, технологии, креативные индустрии, связь с регионом и практикой.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94944" y="3465576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4261104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6424" y="4398264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6424" y="444855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27048" y="439826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История кафедры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527048" y="46542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B4D"/>
                </a:solidFill>
              </a:rPr>
              <a:t>Мини-таймлайн: истоки → объединение кафедр → 2015 → современное развитие.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94944" y="4590288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5248656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6424" y="5385816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6424" y="543610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27048" y="538581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Направления подготовки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1527048" y="56418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B4D"/>
                </a:solidFill>
              </a:rPr>
              <a:t>Карточки: Дизайн среды, Цифровой дизайн, Цифровая мода, Изобразительное искусство и игропедагогика, Магистратура Дизайн.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694944" y="557784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6556248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06424" y="6693408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6424" y="674370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27048" y="66934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выбирают кафедру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1527048" y="6949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B4D"/>
                </a:solidFill>
              </a:rPr>
              <a:t>Практика с первого курса, портфолио, связь с Владивостоком, междисциплинарность, реальные проекты, монетизация навыков.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694944" y="6885432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768096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06424" y="7818120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6424" y="7868412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27048" y="78181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Учебно-лабораторная база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1527048" y="80741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B4D"/>
                </a:solidFill>
              </a:rPr>
              <a:t>Компьютерные классы, мастерские, рисунок/живопись, 3D-печать, швейные мастерские, САПР и цифровые инструменты.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694944" y="8010144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" y="8759952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6424" y="8897112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6424" y="894740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527048" y="889711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Проекты студентов и портфолио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1527048" y="91531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B4D"/>
                </a:solidFill>
              </a:rPr>
              <a:t>Галерея, фильтры по направлениям, портфолио выпускника: интерьер, UX/UI, fashion, 3D, айдентика, макеты.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694944" y="9089136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0120" y="9884664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6424" y="10021824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6424" y="1007211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527048" y="100218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Практика, партнёры, работодатели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1527048" y="102778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B4D"/>
                </a:solidFill>
              </a:rPr>
              <a:t>Места практики, реальные организации, формат сотрудничества, карьерные маршруты выпускников.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694944" y="10213848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7472" y="11631168"/>
            <a:ext cx="6163056" cy="32918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11722608"/>
            <a:ext cx="5852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3B78"/>
                </a:solidFill>
              </a:rPr>
              <a:t>Логика страницы: о кафедре → направления → преимущества → проекты → практика → поступление → контакты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ВВГУ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68680" cy="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28600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2A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Вертикальная полоса страницы: блоки 9–17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9344" y="987552"/>
            <a:ext cx="4754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Нижняя часть страницы: доказательства, поступление, контакты и финальный CTA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18488" y="1225296"/>
            <a:ext cx="2194560" cy="310896"/>
          </a:xfrm>
          <a:prstGeom prst="roundRect">
            <a:avLst>
              <a:gd name="adj" fmla="val 17647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29387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низ страницы / доказательства + заявка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0" cy="9509760"/>
          </a:xfrm>
          <a:prstGeom prst="line">
            <a:avLst/>
          </a:prstGeom>
          <a:noFill/>
          <a:ln w="25400">
            <a:solidFill>
              <a:srgbClr val="C9D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828800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1965960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2016252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27048" y="19659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Наука, исследования и творческая деятельность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527048" y="22219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B4D"/>
                </a:solidFill>
              </a:rPr>
              <a:t>Дизайн среды, цифровой дизайн, визуальные коммуникации, мода и технологии, игропедагогика, проектные группы.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694944" y="2130552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798064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6424" y="2935224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298551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27048" y="29352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Конкурсы, выставки, достижения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1527048" y="31912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B4D"/>
                </a:solidFill>
              </a:rPr>
              <a:t>Конкурсы, выставки, гранты, дипломные проекты, городские и социальные проекты, новости и победы.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694944" y="3099816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3767328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6424" y="3904488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6424" y="395478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27048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Состав кафедры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527048" y="4160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B4D"/>
                </a:solidFill>
              </a:rPr>
              <a:t>Заведующий, преподаватели, практики, кураторы направлений, карточки с фото, экспертизой и контактами.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694944" y="406908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828032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6424" y="4965192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6424" y="501548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27048" y="496519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Абитуриенту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1527048" y="52212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B4D"/>
                </a:solidFill>
              </a:rPr>
              <a:t>Быстрый выбор направления, сроки, стоимость, места, учебный план, вступительные испытания, кнопка «Подать документы».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694944" y="5129784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5934456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06424" y="6071616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6424" y="612190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27048" y="607161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Творческие испытания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1527048" y="63276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B4D"/>
                </a:solidFill>
              </a:rPr>
              <a:t>Что такое композиция, формат, материалы, критерии оценки, примеры заданий, консультации.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694944" y="6236208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7086600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06424" y="7223760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6424" y="7274052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27048" y="72237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Родителям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1527048" y="7479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B4D"/>
                </a:solidFill>
              </a:rPr>
              <a:t>Почему обучение — инвестиция: портфолио, проекты, практика, оборудование, карьерная траектория.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694944" y="7388352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" y="8055864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6424" y="8193024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6424" y="824331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527048" y="81930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Студентам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1527048" y="8449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B4D"/>
                </a:solidFill>
              </a:rPr>
              <a:t>Конкурсы, практика, проектные группы, как подать проект в галерею, как получить консультацию куратора.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694944" y="8357616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0120" y="9025128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6424" y="9162288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6424" y="921258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527048" y="91622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Контакты и форма заявки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1527048" y="9418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B4D"/>
                </a:solidFill>
              </a:rPr>
              <a:t>Адрес, e-mail, телефон, соцсети, координатор кафедры и форма «Получить консультацию».</a:t>
            </a:r>
            <a:endParaRPr lang="en-US" sz="730" dirty="0"/>
          </a:p>
        </p:txBody>
      </p:sp>
      <p:sp>
        <p:nvSpPr>
          <p:cNvPr id="57" name="Shape 55"/>
          <p:cNvSpPr/>
          <p:nvPr/>
        </p:nvSpPr>
        <p:spPr>
          <a:xfrm>
            <a:off x="694944" y="932688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0120" y="10177272"/>
            <a:ext cx="5440680" cy="685800"/>
          </a:xfrm>
          <a:prstGeom prst="roundRect">
            <a:avLst>
              <a:gd name="adj" fmla="val 10667"/>
            </a:avLst>
          </a:prstGeom>
          <a:solidFill>
            <a:srgbClr val="003B78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6424" y="10314432"/>
            <a:ext cx="310896" cy="310896"/>
          </a:xfrm>
          <a:prstGeom prst="ellipse">
            <a:avLst/>
          </a:prstGeom>
          <a:solidFill>
            <a:srgbClr val="1D6FD1"/>
          </a:solidFill>
          <a:ln w="12700">
            <a:solidFill>
              <a:srgbClr val="1D6FD1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06424" y="1036472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527048" y="1031443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Финальный CTA</a:t>
            </a:r>
            <a:endParaRPr lang="en-US" sz="1020" dirty="0"/>
          </a:p>
        </p:txBody>
      </p:sp>
      <p:sp>
        <p:nvSpPr>
          <p:cNvPr id="62" name="Text 60"/>
          <p:cNvSpPr/>
          <p:nvPr/>
        </p:nvSpPr>
        <p:spPr>
          <a:xfrm>
            <a:off x="1527048" y="1057046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</a:rPr>
              <a:t>Крупная плашка: «Выберите своё направление в дизайне и технологиях ВВГУ» + три кнопки.</a:t>
            </a:r>
            <a:endParaRPr lang="en-US" sz="730" dirty="0"/>
          </a:p>
        </p:txBody>
      </p:sp>
      <p:sp>
        <p:nvSpPr>
          <p:cNvPr id="63" name="Shape 61"/>
          <p:cNvSpPr/>
          <p:nvPr/>
        </p:nvSpPr>
        <p:spPr>
          <a:xfrm>
            <a:off x="694944" y="10479024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7472" y="11631168"/>
            <a:ext cx="6163056" cy="32918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11722608"/>
            <a:ext cx="5852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3B78"/>
                </a:solidFill>
              </a:rPr>
              <a:t>Логика страницы: о кафедре → направления → преимущества → проекты → практика → поступление → контакты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ВВГУ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68680" cy="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28600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82A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 1. Первый экран страницы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609344" y="987552"/>
            <a:ext cx="4754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Задача: сразу объяснить ценность кафедры и дать быстрые действия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18488" y="1225296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2938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разместить в самом верху страницы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38912" y="1828800"/>
            <a:ext cx="5989320" cy="2377440"/>
          </a:xfrm>
          <a:prstGeom prst="roundRect">
            <a:avLst>
              <a:gd name="adj" fmla="val 3077"/>
            </a:avLst>
          </a:prstGeom>
          <a:solidFill>
            <a:srgbClr val="003B78"/>
          </a:solidFill>
          <a:ln w="12700">
            <a:solidFill>
              <a:srgbClr val="003B7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21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Кафедра дизайна и технологий ВВГУ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67004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Дизайн, цифровая среда, мода и технологии — образование для тех, кто хочет создавать визуальные, предметные, пространственные и цифровые проекты.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49808" y="3310128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360420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3B78"/>
                </a:solidFill>
              </a:rPr>
              <a:t>Выбрать направление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075688" y="3310128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12264" y="3360420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3B78"/>
                </a:solidFill>
              </a:rPr>
              <a:t>Проекты студентов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3401568" y="3310128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1D6FD1"/>
          </a:solidFill>
          <a:ln w="12700">
            <a:solidFill>
              <a:srgbClr val="1D6FD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336042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Поступить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4315968" y="3310128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1D6FD1"/>
          </a:solidFill>
          <a:ln w="12700">
            <a:solidFill>
              <a:srgbClr val="1D6FD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2544" y="3360420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Консультация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5440680" y="2139696"/>
            <a:ext cx="658368" cy="13716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2633472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фото / видео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кафедры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02920" y="46177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</a:rPr>
              <a:t>Быстрые факты рядом с первым экраном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" y="5029200"/>
            <a:ext cx="1874520" cy="621792"/>
          </a:xfrm>
          <a:prstGeom prst="roundRect">
            <a:avLst>
              <a:gd name="adj" fmla="val 8824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519379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517550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Бакалавриат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32688" y="535838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уровень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468880" y="5029200"/>
            <a:ext cx="1874520" cy="621792"/>
          </a:xfrm>
          <a:prstGeom prst="roundRect">
            <a:avLst>
              <a:gd name="adj" fmla="val 8824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519379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517550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Магистратура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926080" y="535838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уровень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462272" y="5029200"/>
            <a:ext cx="1874520" cy="621792"/>
          </a:xfrm>
          <a:prstGeom prst="roundRect">
            <a:avLst>
              <a:gd name="adj" fmla="val 8824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519379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517550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Очное обучение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19472" y="535838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формат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75488" y="5742432"/>
            <a:ext cx="1874520" cy="621792"/>
          </a:xfrm>
          <a:prstGeom prst="roundRect">
            <a:avLst>
              <a:gd name="adj" fmla="val 8824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" y="59070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🏛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2688" y="588873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ИТИКИ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32688" y="60716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институт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468880" y="5742432"/>
            <a:ext cx="1874520" cy="621792"/>
          </a:xfrm>
          <a:prstGeom prst="roundRect">
            <a:avLst>
              <a:gd name="adj" fmla="val 8824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78608" y="59070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🖼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26080" y="588873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Портфолио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926080" y="60716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результат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462272" y="5742432"/>
            <a:ext cx="1874520" cy="621792"/>
          </a:xfrm>
          <a:prstGeom prst="roundRect">
            <a:avLst>
              <a:gd name="adj" fmla="val 8824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59070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🧩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19472" y="588873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Проекты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19472" y="60716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практика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75488" y="6693408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" y="6803136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216" y="685800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05840" y="6821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написать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1792" y="72603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✍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1188720" y="7260336"/>
            <a:ext cx="19659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сильный заголовок кафедры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короткое описание: чем занимается кафедра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3–5 преимуществ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быстрые факты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понятные кнопки действия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3511296" y="6693408"/>
            <a:ext cx="288950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21024" y="6803136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21024" y="685800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041648" y="68214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показать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657600" y="72603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🖼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4224528" y="7260336"/>
            <a:ext cx="202082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живое фото аудитории или проектов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логотип/брендинг ВВГУ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карточки фактов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переходы к направлениям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кнопка консультации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475488" y="8549640"/>
            <a:ext cx="5925312" cy="1417320"/>
          </a:xfrm>
          <a:prstGeom prst="roundRect">
            <a:avLst>
              <a:gd name="adj" fmla="val 5161"/>
            </a:avLst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" y="865936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5216" y="87142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05840" y="86776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Важно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21792" y="91165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💡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1188720" y="9116568"/>
            <a:ext cx="505663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</a:rPr>
              <a:t>Первый экран должен работать как «вход в кафедру»: человек сразу понимает, что здесь можно выбрать направление, увидеть реальные проекты, узнать условия поступления и оставить заявку.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347472" y="11631168"/>
            <a:ext cx="6163056" cy="32918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11722608"/>
            <a:ext cx="5852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3B78"/>
                </a:solidFill>
              </a:rPr>
              <a:t>Логика страницы: о кафедре → направления → преимущества → проекты → практика → поступление → контакты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ВВГУ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68680" cy="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28600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A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Блоки 2–4. О кафедре, история, направления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9344" y="987552"/>
            <a:ext cx="4754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После первого экрана пользователь должен понять, что это за кафедра и куда можно поступить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18488" y="122529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29387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основной выбор направления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84048" y="182880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193852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9933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 кафедре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3957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🏛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395728"/>
            <a:ext cx="205740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</a:rPr>
              <a:t>• чем занимается кафедра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</a:rPr>
              <a:t>• дизайн, цифровая среда, мода, технологии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</a:rPr>
              <a:t>• креативные индустрии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</a:rPr>
              <a:t>• связь с Владивостоком и регионом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</a:rPr>
              <a:t>• практико-ориентированное обучение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520440" y="182880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0168" y="193852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19933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50792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История кафедры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66744" y="23957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📍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33672" y="2395728"/>
            <a:ext cx="205740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Показать кратким таймлайном: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истоки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объединение кафедр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образование кафедры в 2015 году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современное развитие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502920" y="42062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</a:rPr>
              <a:t>Карточки направлений подготовки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7731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7552" y="4782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</a:rPr>
              <a:t>Дизайн среды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987552" y="51297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интерьеры, городская среда, 3D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87552" y="5422392"/>
            <a:ext cx="731520" cy="219456"/>
          </a:xfrm>
          <a:prstGeom prst="roundRect">
            <a:avLst>
              <a:gd name="adj" fmla="val 2083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47268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3B78"/>
                </a:solidFill>
              </a:rPr>
              <a:t>Подробнее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3566160" y="461772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47731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96512" y="4782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</a:rPr>
              <a:t>Цифровой дизайн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4096512" y="51297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UX/UI, графика, motion, 3D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096512" y="5422392"/>
            <a:ext cx="731520" cy="219456"/>
          </a:xfrm>
          <a:prstGeom prst="roundRect">
            <a:avLst>
              <a:gd name="adj" fmla="val 2083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33088" y="547268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3B78"/>
                </a:solidFill>
              </a:rPr>
              <a:t>Подробнее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61447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👗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7552" y="6153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</a:rPr>
              <a:t>Цифровая мода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87552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одежда, 3D-мода, fashion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987552" y="6793992"/>
            <a:ext cx="731520" cy="219456"/>
          </a:xfrm>
          <a:prstGeom prst="roundRect">
            <a:avLst>
              <a:gd name="adj" fmla="val 2083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684428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3B78"/>
                </a:solidFill>
              </a:rPr>
              <a:t>Подробнее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3566160" y="598932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61447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096512" y="6153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</a:rPr>
              <a:t>Изобразительное искусство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</a:rPr>
              <a:t>и игропедагогика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4096512" y="6501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искусство, педагогика, игры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096512" y="6793992"/>
            <a:ext cx="731520" cy="219456"/>
          </a:xfrm>
          <a:prstGeom prst="roundRect">
            <a:avLst>
              <a:gd name="adj" fmla="val 2083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33088" y="684428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3B78"/>
                </a:solidFill>
              </a:rPr>
              <a:t>Подробнее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2011680" y="736092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48840" y="75163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542032" y="7525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</a:rPr>
              <a:t>Магистратура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03B78"/>
                </a:solidFill>
              </a:rPr>
              <a:t>«Дизайн»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2542032" y="78729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исследования, проекты, практика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542032" y="8165592"/>
            <a:ext cx="731520" cy="219456"/>
          </a:xfrm>
          <a:prstGeom prst="roundRect">
            <a:avLst>
              <a:gd name="adj" fmla="val 2083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78608" y="821588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3B78"/>
                </a:solidFill>
              </a:rPr>
              <a:t>Подробнее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475488" y="8823960"/>
            <a:ext cx="5925312" cy="1234440"/>
          </a:xfrm>
          <a:prstGeom prst="roundRect">
            <a:avLst>
              <a:gd name="adj" fmla="val 5926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5216" y="893368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" y="89885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05840" y="895197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Правило наполнения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21792" y="939088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🔗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1188720" y="9390888"/>
            <a:ext cx="505663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Каждая карточка направления должна вести на отдельную страницу/раздел программы и содержать: короткое позиционирование, профиль навыков, кнопку «Подробнее», кнопку «Подать документы» или «Консультация».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347472" y="11631168"/>
            <a:ext cx="6163056" cy="32918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11722608"/>
            <a:ext cx="5852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3B78"/>
                </a:solidFill>
              </a:rPr>
              <a:t>Логика страницы: о кафедре → направления → преимущества → проекты → практика → поступление → контакты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ВВГУ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68680" cy="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28600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2A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Блоки 5–6. Преимущества и лабораторная база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9344" y="987552"/>
            <a:ext cx="4754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Эти блоки объясняют ценность обучения и усиливают конкурентоспособность кафедры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18488" y="12252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29387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ценность для абитуриентов и родителей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6035040" cy="182880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198424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03911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1832" y="20025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выбирают кафедру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" y="244144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24712" y="2441448"/>
            <a:ext cx="516636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72B4D"/>
                </a:solidFill>
              </a:rPr>
              <a:t>• практика с первого курса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72B4D"/>
                </a:solidFill>
              </a:rPr>
              <a:t>• портфолио и личный бренд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72B4D"/>
                </a:solidFill>
              </a:rPr>
              <a:t>• связь с Владивостоком и Приморским краем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72B4D"/>
                </a:solidFill>
              </a:rPr>
              <a:t>• междисциплинарность: дизайн + технологии + мода + туризм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72B4D"/>
                </a:solidFill>
              </a:rPr>
              <a:t>• реальные проекты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72B4D"/>
                </a:solidFill>
              </a:rPr>
              <a:t>• первые заказы и монетизация навыков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493776" y="4160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</a:rPr>
              <a:t>Учебно-лабораторная база: показать через карточки с фото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" y="4663440"/>
            <a:ext cx="19019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486460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48646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Компьютерные классы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32688" y="51206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ПО, графика, цифровые инструменты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2505456" y="4663440"/>
            <a:ext cx="19019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486460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62656" y="48646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Мастерские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962656" y="51206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макеты, материалы, прототипы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4535424" y="4663440"/>
            <a:ext cx="19019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486460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92624" y="48646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Рисунок и живопись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92624" y="51206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художественная база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>
            <a:off x="475488" y="5989320"/>
            <a:ext cx="19019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619048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🧊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2688" y="61904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3D-печать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32688" y="64465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макетирование и прототипирование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2505456" y="5989320"/>
            <a:ext cx="19019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15184" y="619048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🧵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962656" y="61904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Швейные мастерские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962656" y="64465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цифровая мода и костюм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4535424" y="5989320"/>
            <a:ext cx="19019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619048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📐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92624" y="61904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3B78"/>
                </a:solidFill>
              </a:rPr>
              <a:t>САПР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92624" y="64465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мода, дизайн, проектирование</a:t>
            </a:r>
            <a:endParaRPr lang="en-US" sz="630" dirty="0"/>
          </a:p>
        </p:txBody>
      </p:sp>
      <p:sp>
        <p:nvSpPr>
          <p:cNvPr id="40" name="Shape 38"/>
          <p:cNvSpPr/>
          <p:nvPr/>
        </p:nvSpPr>
        <p:spPr>
          <a:xfrm>
            <a:off x="475488" y="740664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5216" y="751636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" y="75712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05840" y="75346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собрать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1792" y="79735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📷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188720" y="7973568"/>
            <a:ext cx="20116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</a:rPr>
              <a:t>• фото аудиторий и мастерских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</a:rPr>
              <a:t>• список оборудования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</a:rPr>
              <a:t>• какие дисциплины используют базу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</a:rPr>
              <a:t>• какие проекты создаются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</a:rPr>
              <a:t>• кто отвечает за лабораторию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566160" y="740664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75888" y="751636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75712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096512" y="7534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важно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712464" y="79735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₽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4279392" y="7973568"/>
            <a:ext cx="19659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Лабораторная база помогает объяснить стоимость обучения и показать, что студент получает доступ к профессиональной среде, а не только к лекциям.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347472" y="11631168"/>
            <a:ext cx="6163056" cy="32918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11722608"/>
            <a:ext cx="5852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3B78"/>
                </a:solidFill>
              </a:rPr>
              <a:t>Логика страницы: о кафедре → направления → преимущества → проекты → практика → поступление → контакты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ВВГУ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68680" cy="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28600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A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Блоки 7–8. Проекты, портфолио, практика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9344" y="987552"/>
            <a:ext cx="4754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Главные доказательства качества программы: реальные работы и связь с индустрией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18488" y="1225296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293876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доказательства результата обучения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6035040" cy="1645920"/>
          </a:xfrm>
          <a:prstGeom prst="roundRect">
            <a:avLst>
              <a:gd name="adj" fmla="val 4444"/>
            </a:avLst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189280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9476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1832" y="19110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Проекты студентов и портфолио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" y="23500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24712" y="2350008"/>
            <a:ext cx="516636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Разместить галерею проектов с фильтрами: Дизайн среды / Цифровой дизайн / Цифровая мода / Изо и игропедагогика / Магистратура / Интерьер / UX/UI / Fashion / 3D / Айдентика / Макеты.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</a:rPr>
              <a:t>Формат карточки проекта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20624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4315968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3B78"/>
                </a:solidFill>
              </a:rPr>
              <a:t>название проекта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2011680" y="420624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4315968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3B78"/>
                </a:solidFill>
              </a:rPr>
              <a:t>автор / команда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520440" y="420624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75304" y="4315968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3B78"/>
                </a:solidFill>
              </a:rPr>
              <a:t>направление и курс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5029200" y="420624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4315968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3B78"/>
                </a:solidFill>
              </a:rPr>
              <a:t>задача проекта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502920" y="466344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4773168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3B78"/>
                </a:solidFill>
              </a:rPr>
              <a:t>результат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2011680" y="466344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66544" y="4773168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3B78"/>
                </a:solidFill>
              </a:rPr>
              <a:t>куратор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3520440" y="466344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75304" y="4773168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3B78"/>
                </a:solidFill>
              </a:rPr>
              <a:t>заказчик, если есть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5029200" y="466344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4773168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3B78"/>
                </a:solidFill>
              </a:rPr>
              <a:t>изображение / ссылка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411480" y="553212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" y="564184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569671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41832" y="5660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Практика и партнёры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7784" y="609904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🤝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124712" y="6099048"/>
            <a:ext cx="205740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• места практики студентов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• реальные организации и компании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• формат сотрудничества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• стажировка / заказ / проект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• карьерные маршруты выпускников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3520440" y="553212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30168" y="564184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30168" y="569671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050792" y="5660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запросить у кафедры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666744" y="609904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📌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233672" y="6099048"/>
            <a:ext cx="205740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• список партнёров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• фото с практики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• кейсы заказчиков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• работодатели выпускников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72B4D"/>
                </a:solidFill>
              </a:rPr>
              <a:t>• отзывы студентов и выпускников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411480" y="800100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" y="811072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" y="81655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41832" y="81290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Портфолио выпускника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57784" y="85679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💼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124712" y="8567928"/>
            <a:ext cx="5166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72B4D"/>
                </a:solidFill>
              </a:rPr>
              <a:t>Показать, что студент выходит с портфолио: интерьеры, 3D-визуализации, UX/UI, motion, fashion, макеты, айдентика, проекты для конкурсов и заказчиков.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347472" y="11631168"/>
            <a:ext cx="6163056" cy="32918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11722608"/>
            <a:ext cx="5852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3B78"/>
                </a:solidFill>
              </a:rPr>
              <a:t>Логика страницы: о кафедре → направления → преимущества → проекты → практика → поступление → контакты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ВВГУ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68680" cy="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28600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82A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Блоки 9–11. Исследования, достижения, состав кафедры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9344" y="987552"/>
            <a:ext cx="4754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Показываем кафедру как профессиональное сообщество, а не только учебное подразделение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18488" y="1225296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29387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доверие и экспертность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193852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9933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1832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Наука и творческая деятельность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" y="23957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🔬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24712" y="2395728"/>
            <a:ext cx="205740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дизайн среды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цифровой дизайн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визуальные коммуникации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мода и технологии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игропедагогика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проектные группы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3520440" y="182880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0168" y="193852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19933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50792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Конкурсы и достижения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66744" y="23957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🏆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33672" y="2395728"/>
            <a:ext cx="205740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конкурсы и фестивали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выставки и экспозиции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гранты и стипендии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дипломные проекты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городские и соц. проекты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72B4D"/>
                </a:solidFill>
              </a:rPr>
              <a:t>• новости и победы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</a:rPr>
              <a:t>Состав кафедры: карточки сотрудников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" y="475488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4919472"/>
            <a:ext cx="310896" cy="310896"/>
          </a:xfrm>
          <a:prstGeom prst="ellipse">
            <a:avLst/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9194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3B78"/>
                </a:solidFill>
              </a:rPr>
              <a:t>Заведующий кафедрой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1005840" y="5239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ФИО • должность • экспертиза • контакты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>
            <a:off x="2505456" y="475488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1760" y="4919472"/>
            <a:ext cx="310896" cy="310896"/>
          </a:xfrm>
          <a:prstGeom prst="ellipse">
            <a:avLst/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88336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35808" y="49194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3B78"/>
                </a:solidFill>
              </a:rPr>
              <a:t>Координаторы программ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3035808" y="5239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ФИО • должность • экспертиза • контакты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4535424" y="475488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4919472"/>
            <a:ext cx="310896" cy="310896"/>
          </a:xfrm>
          <a:prstGeom prst="ellipse">
            <a:avLst/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65776" y="49194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3B78"/>
                </a:solidFill>
              </a:rPr>
              <a:t>Преподаватели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5065776" y="5239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ФИО • должность • экспертиза • контакты</a:t>
            </a:r>
            <a:endParaRPr lang="en-US" sz="580" dirty="0"/>
          </a:p>
        </p:txBody>
      </p:sp>
      <p:sp>
        <p:nvSpPr>
          <p:cNvPr id="37" name="Shape 35"/>
          <p:cNvSpPr/>
          <p:nvPr/>
        </p:nvSpPr>
        <p:spPr>
          <a:xfrm>
            <a:off x="475488" y="589788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" y="6062472"/>
            <a:ext cx="310896" cy="310896"/>
          </a:xfrm>
          <a:prstGeom prst="ellipse">
            <a:avLst/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6099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60624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3B78"/>
                </a:solidFill>
              </a:rPr>
              <a:t>Приглашённые практики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1005840" y="6382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ФИО • должность • экспертиза • контакты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2505456" y="589788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51760" y="6062472"/>
            <a:ext cx="310896" cy="310896"/>
          </a:xfrm>
          <a:prstGeom prst="ellipse">
            <a:avLst/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88336" y="6099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035808" y="60624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3B78"/>
                </a:solidFill>
              </a:rPr>
              <a:t>Кураторы проектов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3035808" y="6382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ФИО • должность • экспертиза • контакты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4535424" y="589788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81728" y="6062472"/>
            <a:ext cx="310896" cy="310896"/>
          </a:xfrm>
          <a:prstGeom prst="ellipse">
            <a:avLst/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6099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65776" y="60624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3B78"/>
                </a:solidFill>
              </a:rPr>
              <a:t>Ответственные за консультации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5065776" y="6382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67085"/>
                </a:solidFill>
              </a:rPr>
              <a:t>ФИО • должность • экспертиза • контакты</a:t>
            </a:r>
            <a:endParaRPr lang="en-US" sz="580" dirty="0"/>
          </a:p>
        </p:txBody>
      </p:sp>
      <p:sp>
        <p:nvSpPr>
          <p:cNvPr id="52" name="Shape 50"/>
          <p:cNvSpPr/>
          <p:nvPr/>
        </p:nvSpPr>
        <p:spPr>
          <a:xfrm>
            <a:off x="475488" y="7406640"/>
            <a:ext cx="5925312" cy="1325880"/>
          </a:xfrm>
          <a:prstGeom prst="roundRect">
            <a:avLst>
              <a:gd name="adj" fmla="val 5517"/>
            </a:avLst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5216" y="751636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" y="75712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05840" y="75346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Правило наполнения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21792" y="79735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✅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1188720" y="7973568"/>
            <a:ext cx="505663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B4D"/>
                </a:solidFill>
              </a:rPr>
              <a:t>Для блока достижений и состава кафедры использовать только актуальные факты: ФИО, должности, фото, достижения, ссылки на новости, реальные конкурсы и проекты.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47472" y="11631168"/>
            <a:ext cx="6163056" cy="32918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11722608"/>
            <a:ext cx="5852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3B78"/>
                </a:solidFill>
              </a:rPr>
              <a:t>Логика страницы: о кафедре → направления → преимущества → проекты → практика → поступление → контакты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ВВГУ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68680" cy="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28600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2A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Блоки 12–15. Абитуриенту, испытания, родители, студенты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9344" y="987552"/>
            <a:ext cx="4754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Эти блоки помогают принять решение и снять барьеры перед поступлением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18488" y="1225296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2938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поступление + поддержка выбора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193852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9933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1832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Абитуриенту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" y="23957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24712" y="2395728"/>
            <a:ext cx="205740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быстрый выбор направления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сроки и формат обучения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стоимость и места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учебный план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вступительные испытания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кнопка «Подать документы»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520440" y="182880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0168" y="193852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19933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50792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Творческие испытания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66744" y="23957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✏️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33672" y="2395728"/>
            <a:ext cx="205740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что такое композиция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формат и материалы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критерии оценки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примеры заданий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консультации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кнопка «Подготовиться»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11480" y="4251960"/>
            <a:ext cx="6035040" cy="1143000"/>
          </a:xfrm>
          <a:prstGeom prst="roundRect">
            <a:avLst>
              <a:gd name="adj" fmla="val 6400"/>
            </a:avLst>
          </a:prstGeom>
          <a:solidFill>
            <a:srgbClr val="003B78"/>
          </a:solidFill>
          <a:ln w="12700">
            <a:solidFill>
              <a:srgbClr val="003B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6227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Готовый смысловой текст про испытания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736592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</a:rPr>
              <a:t>Творческое испытание — это не проверка «врождённого таланта», а способ оценить базовое композиционное и пространственное мышление. К нему можно подготовиться: изучить требования, посмотреть примеры и получить консультацию кафедры.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411480" y="580644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" y="591616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59710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1832" y="5934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Родителям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" y="63733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👪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24712" y="6373368"/>
            <a:ext cx="205740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почему это инвестиция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портфолио и проекты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практика и оборудование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первые профессиональные контакты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карьерная траектория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520440" y="580644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30168" y="591616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59710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50792" y="5934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Студентам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66744" y="63733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📚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233672" y="6373368"/>
            <a:ext cx="205740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конкурсы и выставки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практика и стажировки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проектные группы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как подать проект в галерею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• консультация куратора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11480" y="8028432"/>
            <a:ext cx="6035040" cy="1325880"/>
          </a:xfrm>
          <a:prstGeom prst="roundRect">
            <a:avLst>
              <a:gd name="adj" fmla="val 5517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" y="8138160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81930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41832" y="81564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обязательно добавить в раздел поступления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7784" y="85953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57B8"/>
                </a:solidFill>
              </a:rPr>
              <a:t>📄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124712" y="8595360"/>
            <a:ext cx="51663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B4D"/>
                </a:solidFill>
              </a:rPr>
              <a:t>Ссылки: учебные планы, паспорта программ, программы вступительных испытаний, правила приёма, чек-лист поступающего, примеры заданий, контакты координатора.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47472" y="11631168"/>
            <a:ext cx="6163056" cy="32918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11722608"/>
            <a:ext cx="5852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3B78"/>
                </a:solidFill>
              </a:rPr>
              <a:t>Логика страницы: о кафедре → направления → преимущества → проекты → практика → поступление → контакты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ВВГУ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68680" cy="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28600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2A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Блоки 16–17. Контакты, форма заявки, финальный CTA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9344" y="987552"/>
            <a:ext cx="4754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Финальная часть страницы должна переводить интерес в заявку и консультацию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18488" y="1225296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129387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конверсия в заявку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8"/>
                </a:solidFill>
              </a:rPr>
              <a:t>Контакты и форма заявки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267712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96896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B4D"/>
                </a:solidFill>
              </a:rPr>
              <a:t>📍 Адрес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B4D"/>
                </a:solidFill>
              </a:rPr>
              <a:t>✉ e-mail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B4D"/>
                </a:solidFill>
              </a:rPr>
              <a:t>☎ телефон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B4D"/>
                </a:solidFill>
              </a:rPr>
              <a:t>● соцсети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B4D"/>
                </a:solidFill>
              </a:rPr>
              <a:t>👤 координатор кафедры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743200" y="2267712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5F9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542032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2615184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67085"/>
                </a:solidFill>
              </a:rPr>
              <a:t>Ваше имя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572000" y="2542032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615184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67085"/>
                </a:solidFill>
              </a:rPr>
              <a:t>Телефон / e-mail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2971800" y="2971800"/>
            <a:ext cx="306324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4096" y="3072384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67085"/>
                </a:solidFill>
              </a:rPr>
              <a:t>Ваш вопрос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2971800" y="3749040"/>
            <a:ext cx="3063240" cy="219456"/>
          </a:xfrm>
          <a:prstGeom prst="roundRect">
            <a:avLst>
              <a:gd name="adj" fmla="val 20833"/>
            </a:avLst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8376" y="3799332"/>
            <a:ext cx="2990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Получить консультацию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411480" y="4892040"/>
            <a:ext cx="6035040" cy="1143000"/>
          </a:xfrm>
          <a:prstGeom prst="roundRect">
            <a:avLst>
              <a:gd name="adj" fmla="val 8000"/>
            </a:avLst>
          </a:prstGeom>
          <a:solidFill>
            <a:srgbClr val="003B78"/>
          </a:solidFill>
          <a:ln w="12700">
            <a:solidFill>
              <a:srgbClr val="003B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937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Выберите своё направление в дизайне и технологиях ВВГУ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43400" y="5257800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9976" y="5308092"/>
            <a:ext cx="704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3B78"/>
                </a:solidFill>
              </a:rPr>
              <a:t>Поступить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5212080" y="5257800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48656" y="5308092"/>
            <a:ext cx="886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3B78"/>
                </a:solidFill>
              </a:rPr>
              <a:t>Направления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502920" y="65836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8"/>
                </a:solidFill>
              </a:rPr>
              <a:t>Чек-лист перед запуском страницы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6995160"/>
            <a:ext cx="5669280" cy="329184"/>
          </a:xfrm>
          <a:prstGeom prst="roundRect">
            <a:avLst>
              <a:gd name="adj" fmla="val 11111"/>
            </a:avLst>
          </a:prstGeom>
          <a:solidFill>
            <a:srgbClr val="F5F9FF"/>
          </a:solidFill>
          <a:ln w="6350">
            <a:solidFill>
              <a:srgbClr val="C9DB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70683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05840" y="7086600"/>
            <a:ext cx="5029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B4D"/>
                </a:solidFill>
              </a:rPr>
              <a:t>актуальные направления и ссылки на программы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594360" y="7397496"/>
            <a:ext cx="566928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9DB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74706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05840" y="7488936"/>
            <a:ext cx="5029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B4D"/>
                </a:solidFill>
              </a:rPr>
              <a:t>стоимость, места, сроки и вступительные испытания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94360" y="7799832"/>
            <a:ext cx="5669280" cy="329184"/>
          </a:xfrm>
          <a:prstGeom prst="roundRect">
            <a:avLst>
              <a:gd name="adj" fmla="val 11111"/>
            </a:avLst>
          </a:prstGeom>
          <a:solidFill>
            <a:srgbClr val="F5F9FF"/>
          </a:solidFill>
          <a:ln w="6350">
            <a:solidFill>
              <a:srgbClr val="C9DB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787298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05840" y="7891272"/>
            <a:ext cx="5029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B4D"/>
                </a:solidFill>
              </a:rPr>
              <a:t>учебные планы и документы для скачивания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594360" y="8202168"/>
            <a:ext cx="566928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9DB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827532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05840" y="8293608"/>
            <a:ext cx="5029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B4D"/>
                </a:solidFill>
              </a:rPr>
              <a:t>программа творческого испытания и примеры заданий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594360" y="8604504"/>
            <a:ext cx="5669280" cy="329184"/>
          </a:xfrm>
          <a:prstGeom prst="roundRect">
            <a:avLst>
              <a:gd name="adj" fmla="val 11111"/>
            </a:avLst>
          </a:prstGeom>
          <a:solidFill>
            <a:srgbClr val="F5F9FF"/>
          </a:solidFill>
          <a:ln w="6350">
            <a:solidFill>
              <a:srgbClr val="C9DB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86776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05840" y="8695944"/>
            <a:ext cx="5029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B4D"/>
                </a:solidFill>
              </a:rPr>
              <a:t>фото лабораторий, мастерских и проектов студентов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594360" y="9006840"/>
            <a:ext cx="566928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9DB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90799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05840" y="9098280"/>
            <a:ext cx="5029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B4D"/>
                </a:solidFill>
              </a:rPr>
              <a:t>состав кафедры и координаторы программ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594360" y="9409176"/>
            <a:ext cx="5669280" cy="329184"/>
          </a:xfrm>
          <a:prstGeom prst="roundRect">
            <a:avLst>
              <a:gd name="adj" fmla="val 11111"/>
            </a:avLst>
          </a:prstGeom>
          <a:solidFill>
            <a:srgbClr val="F5F9FF"/>
          </a:solidFill>
          <a:ln w="6350">
            <a:solidFill>
              <a:srgbClr val="C9DB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" y="948232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05840" y="9500616"/>
            <a:ext cx="5029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B4D"/>
                </a:solidFill>
              </a:rPr>
              <a:t>партнёры, места практики и работодатели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594360" y="9811512"/>
            <a:ext cx="566928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9DB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988466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05840" y="9902952"/>
            <a:ext cx="5029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B4D"/>
                </a:solidFill>
              </a:rPr>
              <a:t>форма заявки и аналитика кликов/отправок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411480" y="1028700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12700">
            <a:solidFill>
              <a:srgbClr val="C9DB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1208" y="10396728"/>
            <a:ext cx="329184" cy="32918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" y="104515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17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41832" y="104150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B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94360" y="10853928"/>
            <a:ext cx="5669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B4D"/>
                </a:solidFill>
              </a:rPr>
              <a:t>Страница должна не просто описывать кафедру, а вести пользователя к выбору программы, доверию, консультации и поступлению.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347472" y="11631168"/>
            <a:ext cx="6163056" cy="32918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8890">
            <a:solidFill>
              <a:srgbClr val="C9DB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11722608"/>
            <a:ext cx="5852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3B78"/>
                </a:solidFill>
              </a:rPr>
              <a:t>Логика страницы: о кафедре → направления → преимущества → проекты → практика → поступление → контакты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ВВГУ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Макет-конструктор первой страницы кафедры дизайна и технологий ВВГУ</dc:title>
  <dc:subject>Макет-конструктор страницы кафедры дизайна и технологий ВВГУ</dc:subject>
  <dc:creator>OpenAI</dc:creator>
  <cp:lastModifiedBy>OpenAI</cp:lastModifiedBy>
  <cp:revision>1</cp:revision>
  <dcterms:created xsi:type="dcterms:W3CDTF">2026-06-21T10:48:31Z</dcterms:created>
  <dcterms:modified xsi:type="dcterms:W3CDTF">2026-06-21T10:48:31Z</dcterms:modified>
</cp:coreProperties>
</file>