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960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7B8"/>
                </a:solidFill>
              </a:rPr>
              <a:t>ВВГУ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324C"/>
                </a:solidFill>
              </a:rPr>
              <a:t>Навигация по блокам страницы кафедры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E8E"/>
                </a:solidFill>
              </a:rPr>
              <a:t>Презентация-макет: куда нажимает пользователь и в какой блок страницы попадает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816352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89504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ИТИКИ / Кафедра дизайна и технологий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0120" y="3794760"/>
            <a:ext cx="9875520" cy="0"/>
          </a:xfrm>
          <a:prstGeom prst="line">
            <a:avLst/>
          </a:prstGeom>
          <a:noFill/>
          <a:ln w="25400">
            <a:solidFill>
              <a:srgbClr val="0B70D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3593592"/>
            <a:ext cx="402336" cy="40233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850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24C"/>
                </a:solidFill>
              </a:rPr>
              <a:t>Первый экран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4407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E7E8E"/>
                </a:solidFill>
              </a:rPr>
              <a:t>CTA и меню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3127248" y="3593592"/>
            <a:ext cx="402336" cy="40233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36850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15768" y="41605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24C"/>
                </a:solidFill>
              </a:rPr>
              <a:t>Блоки 2–4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88336" y="4407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E7E8E"/>
                </a:solidFill>
              </a:rPr>
              <a:t>Основа страницы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340096" y="3593592"/>
            <a:ext cx="402336" cy="40233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0096" y="36850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28616" y="41605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24C"/>
                </a:solidFill>
              </a:rPr>
              <a:t>Блоки 5–8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01184" y="4407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E7E8E"/>
                </a:solidFill>
              </a:rPr>
              <a:t>Ценность и доказательства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552944" y="3593592"/>
            <a:ext cx="402336" cy="40233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36850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41464" y="41605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24C"/>
                </a:solidFill>
              </a:rPr>
              <a:t>Блоки 9–15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4032" y="4407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E7E8E"/>
                </a:solidFill>
              </a:rPr>
              <a:t>Экспертность и аудитории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9765792" y="3593592"/>
            <a:ext cx="402336" cy="40233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65792" y="3685032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54312" y="41605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24C"/>
                </a:solidFill>
              </a:rPr>
              <a:t>Блоки 16–17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0" y="4407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E7E8E"/>
                </a:solidFill>
              </a:rPr>
              <a:t>Контакт и действие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914400" y="52303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324C"/>
                </a:solidFill>
              </a:rPr>
              <a:t>Главный принцип: вся страница должна работать как понятный путь от интереса к поступлению и консультации.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для наполнения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7B8"/>
                </a:solidFill>
              </a:rPr>
              <a:t>ВВГУ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64208" y="356616"/>
            <a:ext cx="0" cy="32004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C"/>
                </a:solidFill>
              </a:rPr>
              <a:t>Общая логика переходов по странице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65376" y="758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8E"/>
                </a:solidFill>
              </a:rPr>
              <a:t>Где размещаем навигацию и зачем она нужна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57232" y="32918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39776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B8"/>
                </a:solidFill>
              </a:rPr>
              <a:t>Схема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88720"/>
            <a:ext cx="10972800" cy="5212080"/>
          </a:xfrm>
          <a:prstGeom prst="roundRect">
            <a:avLst>
              <a:gd name="adj" fmla="val 2807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417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324C"/>
                </a:solidFill>
              </a:rPr>
              <a:t>На странице должны быть 3 уровня навигации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205740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2221992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290572"/>
            <a:ext cx="3108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81328" y="2194560"/>
            <a:ext cx="25328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24C"/>
                </a:solidFill>
              </a:rPr>
              <a:t>Первый экран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2606040"/>
            <a:ext cx="283464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Главные CTA-кнопки: «Выбрать направление», «Проекты студентов», «Поступить», «Консультация».
</a:t>
            </a:r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Сразу переводят пользователя к ключевым блокам.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05740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82312" y="2221992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2290572"/>
            <a:ext cx="3108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84648" y="2194560"/>
            <a:ext cx="25328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24C"/>
                </a:solidFill>
              </a:rPr>
              <a:t>Липкое меню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73752" y="2606040"/>
            <a:ext cx="283464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Короткие пункты: О кафедре, Направления, Проекты, Практика, Поступление, Контакты.
</a:t>
            </a:r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Остаётся видимым при прокрутке.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21040" y="205740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85632" y="2221992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2290572"/>
            <a:ext cx="3108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887968" y="2194560"/>
            <a:ext cx="25328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24C"/>
                </a:solidFill>
              </a:rPr>
              <a:t>Повторные CTA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77072" y="2606040"/>
            <a:ext cx="283464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Кнопки в середине и конце страницы: «Получить консультацию», «Подать документы», «Подготовиться».
</a:t>
            </a:r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Закрывают маршрут и собирают заявки.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4919472"/>
            <a:ext cx="10332720" cy="786384"/>
          </a:xfrm>
          <a:prstGeom prst="roundRect">
            <a:avLst>
              <a:gd name="adj" fmla="val 9302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18464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Рекомендуемая навигация: О кафедре | История | Направления | Преимущества | Лаборатории | Проекты | Практика | Поступление | Контакты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навигации по блокам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7B8"/>
                </a:solidFill>
              </a:rPr>
              <a:t>ВВГУ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64208" y="356616"/>
            <a:ext cx="0" cy="32004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C"/>
                </a:solidFill>
              </a:rPr>
              <a:t>Как попадаем в блоки 2–4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65376" y="758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8E"/>
                </a:solidFill>
              </a:rPr>
              <a:t>Показываем, какие кнопки и пункты меню ведут к нужным блокам страницы кафедры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57232" y="32918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39776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B8"/>
                </a:solidFill>
              </a:rPr>
              <a:t>Навигация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70432"/>
            <a:ext cx="4754880" cy="4919472"/>
          </a:xfrm>
          <a:prstGeom prst="roundRect">
            <a:avLst>
              <a:gd name="adj" fmla="val 2692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Первый экран страницы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922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B8"/>
                </a:solidFill>
              </a:rPr>
              <a:t>Кафедра дизайна и технологий ВВГУ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364A"/>
                </a:solidFill>
              </a:rPr>
              <a:t>Пользователь выбирает нужный раздел через CTA-кнопки или липкое меню.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О кафедре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718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B70D9"/>
          </a:solidFill>
          <a:ln w="12700">
            <a:solidFill>
              <a:srgbClr val="0B7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История кафедры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284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Направления подготовки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5230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</a:rPr>
              <a:t>Дублируем эти же пункты в верхнем/липком меню.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5504688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560527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E7E8E"/>
                </a:solidFill>
              </a:rPr>
              <a:t>О кафедре | Направления | Проекты | Практика | Поступление | Контакты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5166360" y="292608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66360" y="365760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66360" y="438912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52160" y="1170432"/>
            <a:ext cx="5760720" cy="491947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Куда попадает пользователь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99632" y="184708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2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2512" y="1965960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0345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84848" y="1947672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О кафедре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84848" y="221284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Описание кафедры, практики, региона и креативных индустрий.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199632" y="277977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82512" y="2898648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29672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84848" y="28803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История кафедры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84848" y="314553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Краткий таймлайн: истоки, объединение, 2015 год, развитие.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199632" y="3712464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2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82512" y="3831336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38999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84848" y="3813048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Направления подготовки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84848" y="4078224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Карточки программ: Дизайн среды, Цифровой дизайн, Цифровая мода и др.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199632" y="480060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4F8FD"/>
          </a:solidFill>
          <a:ln w="12700">
            <a:solidFill>
              <a:srgbClr val="F4F8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965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5364A"/>
                </a:solidFill>
              </a:rPr>
              <a:t>Задача: быстро ответить пользователю «кто мы», «как развивалась кафедра» и «что можно выбрать».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6400800" y="533095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E7E8E"/>
                </a:solidFill>
              </a:rPr>
              <a:t>Эти переходы должны быть доступны уже на первом экране.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навигации по блокам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7B8"/>
                </a:solidFill>
              </a:rPr>
              <a:t>ВВГУ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64208" y="356616"/>
            <a:ext cx="0" cy="32004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C"/>
                </a:solidFill>
              </a:rPr>
              <a:t>Как попадаем в блоки 5–6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65376" y="758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8E"/>
                </a:solidFill>
              </a:rPr>
              <a:t>Показываем, какие кнопки и пункты меню ведут к нужным блокам страницы кафедры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57232" y="32918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39776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B8"/>
                </a:solidFill>
              </a:rPr>
              <a:t>Навигация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70432"/>
            <a:ext cx="4754880" cy="4919472"/>
          </a:xfrm>
          <a:prstGeom prst="roundRect">
            <a:avLst>
              <a:gd name="adj" fmla="val 2692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Первый экран страницы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922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B8"/>
                </a:solidFill>
              </a:rPr>
              <a:t>Кафедра дизайна и технологий ВВГУ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364A"/>
                </a:solidFill>
              </a:rPr>
              <a:t>Пользователь выбирает нужный раздел через CTA-кнопки или липкое меню.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Почему выбирают кафедру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718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B70D9"/>
          </a:solidFill>
          <a:ln w="12700">
            <a:solidFill>
              <a:srgbClr val="0B7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Лаборатории и мастерские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5230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</a:rPr>
              <a:t>Дублируем эти же пункты в верхнем/липком меню.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5504688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560527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E7E8E"/>
                </a:solidFill>
              </a:rPr>
              <a:t>О кафедре | Направления | Проекты | Практика | Поступление | Контакты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166360" y="292608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66360" y="365760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52160" y="1170432"/>
            <a:ext cx="5760720" cy="491947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Куда попадает пользователь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199632" y="184708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2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1965960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0345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84848" y="1947672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Почему выбирают кафедру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84848" y="221284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Практика, портфолио, регион, междисциплинарность, монетизация.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199632" y="277977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2898648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9672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84848" y="28803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Учебно-лабораторная база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84848" y="314553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Компьютерные классы, мастерские, 3D-печать, САПР, швейные мастерские.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199632" y="480060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4F8FD"/>
          </a:solidFill>
          <a:ln w="12700">
            <a:solidFill>
              <a:srgbClr val="F4F8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965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5364A"/>
                </a:solidFill>
              </a:rPr>
              <a:t>Задача: показать преимущества кафедры и материальную базу обучения.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400800" y="533095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E7E8E"/>
                </a:solidFill>
              </a:rPr>
              <a:t>Пользователь должен понять, за счёт чего обучение имеет практическую ценность.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навигации по блокам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7B8"/>
                </a:solidFill>
              </a:rPr>
              <a:t>ВВГУ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64208" y="356616"/>
            <a:ext cx="0" cy="32004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C"/>
                </a:solidFill>
              </a:rPr>
              <a:t>Как попадаем в блоки 7–8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65376" y="758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8E"/>
                </a:solidFill>
              </a:rPr>
              <a:t>Показываем, какие кнопки и пункты меню ведут к нужным блокам страницы кафедры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57232" y="32918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39776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B8"/>
                </a:solidFill>
              </a:rPr>
              <a:t>Навигация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70432"/>
            <a:ext cx="4754880" cy="4919472"/>
          </a:xfrm>
          <a:prstGeom prst="roundRect">
            <a:avLst>
              <a:gd name="adj" fmla="val 2692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Первый экран страницы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922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B8"/>
                </a:solidFill>
              </a:rPr>
              <a:t>Кафедра дизайна и технологий ВВГУ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364A"/>
                </a:solidFill>
              </a:rPr>
              <a:t>Пользователь выбирает нужный раздел через CTA-кнопки или липкое меню.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Проекты студентов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718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B70D9"/>
          </a:solidFill>
          <a:ln w="12700">
            <a:solidFill>
              <a:srgbClr val="0B7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Практика и партнёры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284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Смотреть портфолио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71800" y="3255264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B70D9"/>
          </a:solidFill>
          <a:ln w="12700">
            <a:solidFill>
              <a:srgbClr val="0B7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3284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Где проходят практику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5230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</a:rPr>
              <a:t>Дублируем эти же пункты в верхнем/липком меню.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5504688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560527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E7E8E"/>
                </a:solidFill>
              </a:rPr>
              <a:t>О кафедре | Направления | Проекты | Практика | Поступление | Контакты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166360" y="292608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66360" y="365760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52160" y="1170432"/>
            <a:ext cx="5760720" cy="491947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Куда попадает пользователь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99632" y="184708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2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2512" y="1965960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0345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84848" y="1947672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Проекты студентов и портфолио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84848" y="221284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Галерея работ, фильтры, карточки проектов, портфолио выпускника.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199632" y="277977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898648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29672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84848" y="28803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Практика, партнёры, работодатели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84848" y="314553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Организации, места практики, задачи студентов, карьерные маршруты.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199632" y="480060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4F8FD"/>
          </a:solidFill>
          <a:ln w="12700">
            <a:solidFill>
              <a:srgbClr val="F4F8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965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5364A"/>
                </a:solidFill>
              </a:rPr>
              <a:t>Задача: дать доказательства практической ценности обучения.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6400800" y="533095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E7E8E"/>
                </a:solidFill>
              </a:rPr>
              <a:t>Для конкуренции с ДВФУ здесь особенно важны реальные партнёры и проекты.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навигации по блокам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7B8"/>
                </a:solidFill>
              </a:rPr>
              <a:t>ВВГУ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64208" y="356616"/>
            <a:ext cx="0" cy="32004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C"/>
                </a:solidFill>
              </a:rPr>
              <a:t>Как попадаем в блоки 9–11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65376" y="758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8E"/>
                </a:solidFill>
              </a:rPr>
              <a:t>Показываем, какие кнопки и пункты меню ведут к нужным блокам страницы кафедры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57232" y="32918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39776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B8"/>
                </a:solidFill>
              </a:rPr>
              <a:t>Навигация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70432"/>
            <a:ext cx="4754880" cy="4919472"/>
          </a:xfrm>
          <a:prstGeom prst="roundRect">
            <a:avLst>
              <a:gd name="adj" fmla="val 2692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Первый экран страницы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922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B8"/>
                </a:solidFill>
              </a:rPr>
              <a:t>Кафедра дизайна и технологий ВВГУ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364A"/>
                </a:solidFill>
              </a:rPr>
              <a:t>Пользователь выбирает нужный раздел через CTA-кнопки или липкое меню.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Наука и творчество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718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B70D9"/>
          </a:solidFill>
          <a:ln w="12700">
            <a:solidFill>
              <a:srgbClr val="0B7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Достижения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284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Преподаватели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" y="5230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</a:rPr>
              <a:t>Дублируем эти же пункты в верхнем/липком меню.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5504688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560527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E7E8E"/>
                </a:solidFill>
              </a:rPr>
              <a:t>О кафедре | Направления | Проекты | Практика | Поступление | Контакты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5166360" y="292608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66360" y="365760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66360" y="438912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52160" y="1170432"/>
            <a:ext cx="5760720" cy="491947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Куда попадает пользователь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99632" y="184708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2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2512" y="1965960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0345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84848" y="1947672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Наука, исследования и творчество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84848" y="221284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Исследования, проектные группы, цифровой дизайн, мода, игропедагогика.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199632" y="277977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82512" y="2898648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29672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84848" y="28803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Конкурсы, выставки, достижения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84848" y="314553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Победы, гранты, выставки, дипломные и городские проекты.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199632" y="3712464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2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82512" y="3831336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38999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84848" y="3813048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Состав кафедры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84848" y="4078224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Заведующий, преподаватели, практики, кураторы направлений, контакты.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199632" y="480060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4F8FD"/>
          </a:solidFill>
          <a:ln w="12700">
            <a:solidFill>
              <a:srgbClr val="F4F8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965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5364A"/>
                </a:solidFill>
              </a:rPr>
              <a:t>Задача: показать экспертность кафедры и людей, которые обучают студентов.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6400800" y="533095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E7E8E"/>
                </a:solidFill>
              </a:rPr>
              <a:t>Лучше использовать фото, реальные достижения и ссылки на новости.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навигации по блокам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7B8"/>
                </a:solidFill>
              </a:rPr>
              <a:t>ВВГУ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64208" y="356616"/>
            <a:ext cx="0" cy="32004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C"/>
                </a:solidFill>
              </a:rPr>
              <a:t>Как попадаем в блоки 12–15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65376" y="758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8E"/>
                </a:solidFill>
              </a:rPr>
              <a:t>Показываем, какие кнопки и пункты меню ведут к нужным блокам страницы кафедры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57232" y="32918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39776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B8"/>
                </a:solidFill>
              </a:rPr>
              <a:t>Навигация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70432"/>
            <a:ext cx="4754880" cy="4919472"/>
          </a:xfrm>
          <a:prstGeom prst="roundRect">
            <a:avLst>
              <a:gd name="adj" fmla="val 2692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Первый экран страницы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922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B8"/>
                </a:solidFill>
              </a:rPr>
              <a:t>Кафедра дизайна и технологий ВВГУ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364A"/>
                </a:solidFill>
              </a:rPr>
              <a:t>Пользователь выбирает нужный раздел через CTA-кнопки или липкое меню.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Абитуриенту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718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B70D9"/>
          </a:solidFill>
          <a:ln w="12700">
            <a:solidFill>
              <a:srgbClr val="0B7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Творческие испытания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284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Родителям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71800" y="3255264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B70D9"/>
          </a:solidFill>
          <a:ln w="12700">
            <a:solidFill>
              <a:srgbClr val="0B7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3284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Студентам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5230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</a:rPr>
              <a:t>Дублируем эти же пункты в верхнем/липком меню.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5504688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560527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E7E8E"/>
                </a:solidFill>
              </a:rPr>
              <a:t>О кафедре | Направления | Проекты | Практика | Поступление | Контакты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166360" y="292608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66360" y="365760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166360" y="438912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66360" y="512064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52160" y="1170432"/>
            <a:ext cx="5760720" cy="491947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Куда попадает пользователь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199632" y="178308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E8F2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1901952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19705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84848" y="1883664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9324C"/>
                </a:solidFill>
              </a:rPr>
              <a:t>Абитуриенту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6784848" y="2093976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5364A"/>
                </a:solidFill>
              </a:rPr>
              <a:t>Программы, сроки, стоимость, места, экзамены, учебные планы, подача документов.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199632" y="2496312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82512" y="2615184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26837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84848" y="2596896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9324C"/>
                </a:solidFill>
              </a:rPr>
              <a:t>Творческие испытания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6784848" y="2807208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5364A"/>
                </a:solidFill>
              </a:rPr>
              <a:t>Композиция, формат, материалы, критерии, примеры, консультации.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6199632" y="3209544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E8F2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82512" y="3328416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33969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84848" y="3310128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9324C"/>
                </a:solidFill>
              </a:rPr>
              <a:t>Родителям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6784848" y="3520440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5364A"/>
                </a:solidFill>
              </a:rPr>
              <a:t>Почему обучение — инвестиция: портфолио, практика, оборудование, карьера.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6199632" y="3922776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82512" y="4041648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41102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84848" y="40233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9324C"/>
                </a:solidFill>
              </a:rPr>
              <a:t>Студентам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6784848" y="4233672"/>
            <a:ext cx="4343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5364A"/>
                </a:solidFill>
              </a:rPr>
              <a:t>Конкурсы, практика, проектные группы, галерея, консультации кураторов.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6199632" y="480060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4F8FD"/>
          </a:solidFill>
          <a:ln w="12700">
            <a:solidFill>
              <a:srgbClr val="F4F8F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4965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5364A"/>
                </a:solidFill>
              </a:rPr>
              <a:t>Задача: разделить страницу по аудиториям и снять основные вопросы.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6400800" y="533095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E7E8E"/>
                </a:solidFill>
              </a:rPr>
              <a:t>Особенно важно объяснить творческие испытания простым языком.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навигации по блокам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7B8"/>
                </a:solidFill>
              </a:rPr>
              <a:t>ВВГУ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64208" y="356616"/>
            <a:ext cx="0" cy="32004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C"/>
                </a:solidFill>
              </a:rPr>
              <a:t>Как попадаем в блоки 16–17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65376" y="758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8E"/>
                </a:solidFill>
              </a:rPr>
              <a:t>Показываем, какие кнопки и пункты меню ведут к нужным блокам страницы кафедры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57232" y="32918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39776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B8"/>
                </a:solidFill>
              </a:rPr>
              <a:t>Навигация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70432"/>
            <a:ext cx="4754880" cy="4919472"/>
          </a:xfrm>
          <a:prstGeom prst="roundRect">
            <a:avLst>
              <a:gd name="adj" fmla="val 2692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Первый экран страницы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922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B8"/>
                </a:solidFill>
              </a:rPr>
              <a:t>Кафедра дизайна и технологий ВВГУ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364A"/>
                </a:solidFill>
              </a:rPr>
              <a:t>Пользователь выбирает нужный раздел через CTA-кнопки или липкое меню.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Контакты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71800" y="2761488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B70D9"/>
          </a:solidFill>
          <a:ln w="12700">
            <a:solidFill>
              <a:srgbClr val="0B7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83464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Получить консультацию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3255264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284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Поступить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71800" y="3255264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0B70D9"/>
          </a:solidFill>
          <a:ln w="12700">
            <a:solidFill>
              <a:srgbClr val="0B7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3284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Выбрать направление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5230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8E"/>
                </a:solidFill>
              </a:rPr>
              <a:t>Дублируем эти же пункты в верхнем/липком меню.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5504688"/>
            <a:ext cx="41605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560527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E7E8E"/>
                </a:solidFill>
              </a:rPr>
              <a:t>О кафедре | Направления | Проекты | Практика | Поступление | Контакты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166360" y="292608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66360" y="3657600"/>
            <a:ext cx="676656" cy="0"/>
          </a:xfrm>
          <a:prstGeom prst="line">
            <a:avLst/>
          </a:prstGeom>
          <a:noFill/>
          <a:ln w="15240">
            <a:solidFill>
              <a:srgbClr val="0B70D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52160" y="1170432"/>
            <a:ext cx="5760720" cy="4919472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389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324C"/>
                </a:solidFill>
              </a:rPr>
              <a:t>Куда попадает пользователь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99632" y="184708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8F2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2512" y="1965960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0345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84848" y="1947672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Контакты и форма заявки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84848" y="2212848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Адрес, телефон, e-mail, соцсети, координаторы, форма консультации.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199632" y="277977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2898648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29672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84848" y="28803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324C"/>
                </a:solidFill>
              </a:rPr>
              <a:t>Финальный CTA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84848" y="314553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64A"/>
                </a:solidFill>
              </a:rPr>
              <a:t>Выбор направления, переход к поступлению, консультация, подготовка к испытанию.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199632" y="4800600"/>
            <a:ext cx="5074920" cy="804672"/>
          </a:xfrm>
          <a:prstGeom prst="roundRect">
            <a:avLst>
              <a:gd name="adj" fmla="val 9091"/>
            </a:avLst>
          </a:prstGeom>
          <a:solidFill>
            <a:srgbClr val="F4F8FD"/>
          </a:solidFill>
          <a:ln w="12700">
            <a:solidFill>
              <a:srgbClr val="F4F8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965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5364A"/>
                </a:solidFill>
              </a:rPr>
              <a:t>Задача: завершить маршрут пользователя и собрать обращение или переход к поступлению.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6400800" y="5330952"/>
            <a:ext cx="4663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E7E8E"/>
                </a:solidFill>
              </a:rPr>
              <a:t>Кнопка «Получить консультацию» должна вести именно к форме заявки.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навигации по блокам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7B8"/>
                </a:solidFill>
              </a:rPr>
              <a:t>ВВГУ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64208" y="356616"/>
            <a:ext cx="0" cy="32004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C"/>
                </a:solidFill>
              </a:rPr>
              <a:t>Карта якорных ссылок и кнопок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65376" y="758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8E"/>
                </a:solidFill>
              </a:rPr>
              <a:t>Техническая подсказка для сотрудника сайта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57232" y="32918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39776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B8"/>
                </a:solidFill>
              </a:rPr>
              <a:t>Карта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1234440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30759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О кафедре  ·  #about  ·  Блок 2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85800" y="1801368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874520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История  ·  #history  ·  Блок 3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685800" y="2368296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44144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Направления  ·  #programs  ·  Блок 4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85800" y="2935224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008376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Преимущества  ·  #advantages  ·  Блок 5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474720" y="1234440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4448" y="130759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Лаборатории  ·  #labs  ·  Блок 6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474720" y="1801368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1874520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Проекты  ·  #projects  ·  Блок 7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474720" y="2368296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44144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Практика  ·  #partners  ·  Блок 8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474720" y="2935224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3008376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Наука  ·  #research  ·  Блок 9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263640" y="1234440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130759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Достижения  ·  #achievements  ·  Блок 10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263640" y="1801368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1874520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Преподаватели  ·  #team  ·  Блок 11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263640" y="2368296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244144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Абитуриенту  ·  #applicants  ·  Блок 12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6263640" y="2935224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3008376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Испытания  ·  #creative-test  ·  Блок 13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9052560" y="1234440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130759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Родителям  ·  #parents  ·  Блок 14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9052560" y="1801368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62288" y="1874520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Студентам  ·  #students  ·  Блок 15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9052560" y="2368296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62288" y="244144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Контакты  ·  #contacts  ·  Блок 16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9052560" y="2935224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62288" y="3008376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64A"/>
                </a:solidFill>
              </a:rPr>
              <a:t>CTA  ·  #final-cta  ·  Блок 17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68680" y="4069080"/>
            <a:ext cx="10469880" cy="1325880"/>
          </a:xfrm>
          <a:prstGeom prst="roundRect">
            <a:avLst>
              <a:gd name="adj" fmla="val 6897"/>
            </a:avLst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43159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Правило наполнения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143000" y="4690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FFFFFF"/>
                </a:solidFill>
              </a:rPr>
              <a:t>Каждая кнопка должна вести к конкретному блоку, а каждый блок должен завершаться следующим действием: посмотреть программу, перейти к проектам, узнать условия поступления или оставить заявку.</a:t>
            </a:r>
            <a:endParaRPr lang="en-US" sz="1240" dirty="0"/>
          </a:p>
        </p:txBody>
      </p:sp>
      <p:sp>
        <p:nvSpPr>
          <p:cNvPr id="45" name="Text 43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навигации по блокам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7B8"/>
                </a:solidFill>
              </a:rPr>
              <a:t>ВВГУ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64208" y="356616"/>
            <a:ext cx="0" cy="320040"/>
          </a:xfrm>
          <a:prstGeom prst="line">
            <a:avLst/>
          </a:prstGeom>
          <a:noFill/>
          <a:ln w="12700">
            <a:solidFill>
              <a:srgbClr val="D5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324C"/>
                </a:solidFill>
              </a:rPr>
              <a:t>Чек-лист внедрения навигации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65376" y="758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E8E"/>
                </a:solidFill>
              </a:rPr>
              <a:t>Что проверить перед публикацией страницы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857232" y="329184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39776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B8"/>
                </a:solidFill>
              </a:rPr>
              <a:t>Чек-лист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123444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1399032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467612"/>
            <a:ext cx="3108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89888" y="1371600"/>
            <a:ext cx="43616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24C"/>
                </a:solidFill>
              </a:rPr>
              <a:t>Якоря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У каждого блока есть свой якорь: #about, #programs, #contacts и т.д.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1399032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467612"/>
            <a:ext cx="3108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76288" y="1371600"/>
            <a:ext cx="43616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24C"/>
                </a:solidFill>
              </a:rPr>
              <a:t>Кнопки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65392" y="1783080"/>
            <a:ext cx="4663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Все CTA на первом экране ведут в нужные блоки или на подачу документов.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679192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2843784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2912364"/>
            <a:ext cx="3108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89888" y="2816352"/>
            <a:ext cx="43616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24C"/>
                </a:solidFill>
              </a:rPr>
              <a:t>Липкое меню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227832"/>
            <a:ext cx="4663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Пункты меню повторяют главные маршруты пользователя по странице.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679192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3952" y="2843784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912364"/>
            <a:ext cx="3108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76288" y="2816352"/>
            <a:ext cx="43616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24C"/>
                </a:solidFill>
              </a:rPr>
              <a:t>Мобильная версия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65392" y="3227832"/>
            <a:ext cx="4663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На телефоне навигация превращается в компактное меню и остаётся понятной.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4123944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4F8FD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" y="4288536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357116"/>
            <a:ext cx="3108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89888" y="4261104"/>
            <a:ext cx="43616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24C"/>
                </a:solidFill>
              </a:rPr>
              <a:t>Формы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78992" y="4672584"/>
            <a:ext cx="4663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Кнопки «Получить консультацию» ведут к форме заявки, а не просто к контактам.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4123944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5E2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3952" y="4288536"/>
            <a:ext cx="310896" cy="310896"/>
          </a:xfrm>
          <a:prstGeom prst="ellipse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4357116"/>
            <a:ext cx="3108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76288" y="4261104"/>
            <a:ext cx="43616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324C"/>
                </a:solidFill>
              </a:rPr>
              <a:t>Аналитика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65392" y="4672584"/>
            <a:ext cx="46634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364A"/>
                </a:solidFill>
              </a:rPr>
              <a:t>• Отслеживаем клики по кнопкам, переходы к блокам и отправки форм.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51560" y="5779008"/>
            <a:ext cx="10058400" cy="502920"/>
          </a:xfrm>
          <a:prstGeom prst="roundRect">
            <a:avLst>
              <a:gd name="adj" fmla="val 14545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34440" y="5943600"/>
            <a:ext cx="9692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9324C"/>
                </a:solidFill>
              </a:rPr>
              <a:t>Итог: пользователь не должен искать информацию — страница сама ведёт его от знакомства с кафедрой к выбору направления, консультации и поступлению.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E7E8E"/>
                </a:solidFill>
              </a:rPr>
              <a:t>Макет навигации по блокам страницы кафедры дизайна и технологий ВВГУ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VVSU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пользователь попадает в блоки страницы кафедры</dc:title>
  <dc:subject>Навигация по блокам страницы кафедры дизайна и технологий</dc:subject>
  <dc:creator>OpenAI</dc:creator>
  <cp:lastModifiedBy>OpenAI</cp:lastModifiedBy>
  <cp:revision>1</cp:revision>
  <dcterms:created xsi:type="dcterms:W3CDTF">2026-06-21T11:19:14Z</dcterms:created>
  <dcterms:modified xsi:type="dcterms:W3CDTF">2026-06-21T11:19:14Z</dcterms:modified>
</cp:coreProperties>
</file>